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7e17b0ad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7e17b0ad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7e17b0ad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7e17b0a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7e17b0ad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7e17b0ad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7e17b0ad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7e17b0ad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7e17b0ad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7e17b0ad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Data Left Behind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Drain Pipelines before Deleting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364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Progressive Rollout succeeds, we drain and delete the old one:</a:t>
            </a:r>
            <a:endParaRPr/>
          </a:p>
        </p:txBody>
      </p:sp>
      <p:cxnSp>
        <p:nvCxnSpPr>
          <p:cNvPr id="61" name="Google Shape;61;p14"/>
          <p:cNvCxnSpPr>
            <a:stCxn id="62" idx="6"/>
            <a:endCxn id="63" idx="2"/>
          </p:cNvCxnSpPr>
          <p:nvPr/>
        </p:nvCxnSpPr>
        <p:spPr>
          <a:xfrm flipH="1" rot="10800000">
            <a:off x="5015800" y="2410350"/>
            <a:ext cx="84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" name="Google Shape;62;p14"/>
          <p:cNvSpPr/>
          <p:nvPr/>
        </p:nvSpPr>
        <p:spPr>
          <a:xfrm>
            <a:off x="4076500" y="1967100"/>
            <a:ext cx="93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862500" y="1979400"/>
            <a:ext cx="836100" cy="861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401675" y="1967100"/>
            <a:ext cx="99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</a:endParaRPr>
          </a:p>
        </p:txBody>
      </p:sp>
      <p:cxnSp>
        <p:nvCxnSpPr>
          <p:cNvPr id="65" name="Google Shape;65;p14"/>
          <p:cNvCxnSpPr>
            <a:stCxn id="64" idx="6"/>
            <a:endCxn id="62" idx="2"/>
          </p:cNvCxnSpPr>
          <p:nvPr/>
        </p:nvCxnSpPr>
        <p:spPr>
          <a:xfrm>
            <a:off x="3400975" y="2414250"/>
            <a:ext cx="67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4"/>
          <p:cNvSpPr/>
          <p:nvPr/>
        </p:nvSpPr>
        <p:spPr>
          <a:xfrm>
            <a:off x="271425" y="2861400"/>
            <a:ext cx="1218300" cy="97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</a:t>
            </a:r>
            <a:br>
              <a:rPr lang="en"/>
            </a:br>
            <a:r>
              <a:rPr lang="en"/>
              <a:t>Rollout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1774350" y="1819575"/>
            <a:ext cx="12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pipeline-0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68" name="Google Shape;68;p14"/>
          <p:cNvCxnSpPr>
            <a:stCxn id="69" idx="6"/>
            <a:endCxn id="70" idx="2"/>
          </p:cNvCxnSpPr>
          <p:nvPr/>
        </p:nvCxnSpPr>
        <p:spPr>
          <a:xfrm flipH="1" rot="10800000">
            <a:off x="5015800" y="3782000"/>
            <a:ext cx="84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4"/>
          <p:cNvSpPr/>
          <p:nvPr/>
        </p:nvSpPr>
        <p:spPr>
          <a:xfrm>
            <a:off x="4076500" y="3338750"/>
            <a:ext cx="93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5862500" y="3351050"/>
            <a:ext cx="836100" cy="861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401675" y="3338750"/>
            <a:ext cx="99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</a:endParaRPr>
          </a:p>
        </p:txBody>
      </p:sp>
      <p:cxnSp>
        <p:nvCxnSpPr>
          <p:cNvPr id="72" name="Google Shape;72;p14"/>
          <p:cNvCxnSpPr>
            <a:stCxn id="71" idx="6"/>
            <a:endCxn id="69" idx="2"/>
          </p:cNvCxnSpPr>
          <p:nvPr/>
        </p:nvCxnSpPr>
        <p:spPr>
          <a:xfrm>
            <a:off x="3400975" y="3785900"/>
            <a:ext cx="67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4"/>
          <p:cNvSpPr txBox="1"/>
          <p:nvPr/>
        </p:nvSpPr>
        <p:spPr>
          <a:xfrm>
            <a:off x="1774350" y="3191225"/>
            <a:ext cx="12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pipeline-1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74" name="Google Shape;74;p14"/>
          <p:cNvCxnSpPr>
            <a:stCxn id="66" idx="7"/>
            <a:endCxn id="64" idx="2"/>
          </p:cNvCxnSpPr>
          <p:nvPr/>
        </p:nvCxnSpPr>
        <p:spPr>
          <a:xfrm flipH="1" rot="10800000">
            <a:off x="1311309" y="2414202"/>
            <a:ext cx="1090500" cy="5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>
            <a:stCxn id="66" idx="5"/>
            <a:endCxn id="71" idx="3"/>
          </p:cNvCxnSpPr>
          <p:nvPr/>
        </p:nvCxnSpPr>
        <p:spPr>
          <a:xfrm>
            <a:off x="1311309" y="3690798"/>
            <a:ext cx="1236600" cy="4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4"/>
          <p:cNvSpPr txBox="1"/>
          <p:nvPr/>
        </p:nvSpPr>
        <p:spPr>
          <a:xfrm>
            <a:off x="2547900" y="1947388"/>
            <a:ext cx="42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C4125"/>
                </a:solidFill>
              </a:rPr>
              <a:t>DRAIN</a:t>
            </a:r>
            <a:endParaRPr b="1" sz="2400">
              <a:solidFill>
                <a:srgbClr val="CC412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Pipeline is “undrainable”?</a:t>
            </a:r>
            <a:endParaRPr/>
          </a:p>
        </p:txBody>
      </p:sp>
      <p:cxnSp>
        <p:nvCxnSpPr>
          <p:cNvPr id="82" name="Google Shape;82;p15"/>
          <p:cNvCxnSpPr>
            <a:stCxn id="83" idx="6"/>
            <a:endCxn id="84" idx="2"/>
          </p:cNvCxnSpPr>
          <p:nvPr/>
        </p:nvCxnSpPr>
        <p:spPr>
          <a:xfrm flipH="1" rot="10800000">
            <a:off x="5015800" y="2410350"/>
            <a:ext cx="84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5"/>
          <p:cNvSpPr/>
          <p:nvPr/>
        </p:nvSpPr>
        <p:spPr>
          <a:xfrm>
            <a:off x="4076500" y="1967100"/>
            <a:ext cx="93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862500" y="1979400"/>
            <a:ext cx="836100" cy="861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2401675" y="1967100"/>
            <a:ext cx="99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</a:endParaRPr>
          </a:p>
        </p:txBody>
      </p:sp>
      <p:cxnSp>
        <p:nvCxnSpPr>
          <p:cNvPr id="86" name="Google Shape;86;p15"/>
          <p:cNvCxnSpPr>
            <a:stCxn id="85" idx="6"/>
            <a:endCxn id="83" idx="2"/>
          </p:cNvCxnSpPr>
          <p:nvPr/>
        </p:nvCxnSpPr>
        <p:spPr>
          <a:xfrm>
            <a:off x="3400975" y="2414250"/>
            <a:ext cx="67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/>
          <p:nvPr/>
        </p:nvSpPr>
        <p:spPr>
          <a:xfrm>
            <a:off x="271425" y="2861400"/>
            <a:ext cx="1218300" cy="97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</a:t>
            </a:r>
            <a:br>
              <a:rPr lang="en"/>
            </a:br>
            <a:r>
              <a:rPr lang="en"/>
              <a:t>Rollout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1774350" y="1819575"/>
            <a:ext cx="12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pipeline-0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89" name="Google Shape;89;p15"/>
          <p:cNvCxnSpPr>
            <a:stCxn id="90" idx="6"/>
            <a:endCxn id="91" idx="2"/>
          </p:cNvCxnSpPr>
          <p:nvPr/>
        </p:nvCxnSpPr>
        <p:spPr>
          <a:xfrm flipH="1" rot="10800000">
            <a:off x="5015800" y="3782000"/>
            <a:ext cx="84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5"/>
          <p:cNvSpPr/>
          <p:nvPr/>
        </p:nvSpPr>
        <p:spPr>
          <a:xfrm>
            <a:off x="4076500" y="3338750"/>
            <a:ext cx="93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5862500" y="3351050"/>
            <a:ext cx="836100" cy="861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2401675" y="3338750"/>
            <a:ext cx="99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</a:endParaRPr>
          </a:p>
        </p:txBody>
      </p:sp>
      <p:cxnSp>
        <p:nvCxnSpPr>
          <p:cNvPr id="93" name="Google Shape;93;p15"/>
          <p:cNvCxnSpPr>
            <a:stCxn id="92" idx="6"/>
            <a:endCxn id="90" idx="2"/>
          </p:cNvCxnSpPr>
          <p:nvPr/>
        </p:nvCxnSpPr>
        <p:spPr>
          <a:xfrm>
            <a:off x="3400975" y="3785900"/>
            <a:ext cx="67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5"/>
          <p:cNvSpPr txBox="1"/>
          <p:nvPr/>
        </p:nvSpPr>
        <p:spPr>
          <a:xfrm>
            <a:off x="1774350" y="3191225"/>
            <a:ext cx="12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pipeline-1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95" name="Google Shape;95;p15"/>
          <p:cNvCxnSpPr>
            <a:stCxn id="87" idx="7"/>
            <a:endCxn id="85" idx="2"/>
          </p:cNvCxnSpPr>
          <p:nvPr/>
        </p:nvCxnSpPr>
        <p:spPr>
          <a:xfrm flipH="1" rot="10800000">
            <a:off x="1311309" y="2414202"/>
            <a:ext cx="1090500" cy="5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5"/>
          <p:cNvCxnSpPr>
            <a:stCxn id="87" idx="5"/>
            <a:endCxn id="92" idx="3"/>
          </p:cNvCxnSpPr>
          <p:nvPr/>
        </p:nvCxnSpPr>
        <p:spPr>
          <a:xfrm>
            <a:off x="1311309" y="3690798"/>
            <a:ext cx="1236600" cy="4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5"/>
          <p:cNvSpPr txBox="1"/>
          <p:nvPr/>
        </p:nvSpPr>
        <p:spPr>
          <a:xfrm>
            <a:off x="2547900" y="1947388"/>
            <a:ext cx="42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C4125"/>
                </a:solidFill>
              </a:rPr>
              <a:t>DRAIN</a:t>
            </a:r>
            <a:endParaRPr b="1" sz="2400">
              <a:solidFill>
                <a:srgbClr val="CC4125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6070250" y="1615275"/>
            <a:ext cx="145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Sink might be set to retry indefinitely and failing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032950" y="2453475"/>
            <a:ext cx="145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Sink might not be acking (could be crashing)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106050" y="1727175"/>
            <a:ext cx="145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Map might not be acking (could be crashing)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85125" y="4570050"/>
            <a:ext cx="60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There may be good data stuck in the pipeline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45025"/>
            <a:ext cx="8502900" cy="8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Pipeline can’t drain on its own, update it with the new spec from pipeline-1 and drain</a:t>
            </a:r>
            <a:endParaRPr/>
          </a:p>
        </p:txBody>
      </p:sp>
      <p:cxnSp>
        <p:nvCxnSpPr>
          <p:cNvPr id="107" name="Google Shape;107;p16"/>
          <p:cNvCxnSpPr>
            <a:stCxn id="108" idx="6"/>
            <a:endCxn id="109" idx="2"/>
          </p:cNvCxnSpPr>
          <p:nvPr/>
        </p:nvCxnSpPr>
        <p:spPr>
          <a:xfrm flipH="1" rot="10800000">
            <a:off x="5015800" y="2410350"/>
            <a:ext cx="84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6"/>
          <p:cNvSpPr/>
          <p:nvPr/>
        </p:nvSpPr>
        <p:spPr>
          <a:xfrm>
            <a:off x="4076500" y="1967100"/>
            <a:ext cx="93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862500" y="1979400"/>
            <a:ext cx="836100" cy="861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2401675" y="1967100"/>
            <a:ext cx="99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</a:endParaRPr>
          </a:p>
        </p:txBody>
      </p:sp>
      <p:cxnSp>
        <p:nvCxnSpPr>
          <p:cNvPr id="111" name="Google Shape;111;p16"/>
          <p:cNvCxnSpPr>
            <a:stCxn id="110" idx="6"/>
            <a:endCxn id="108" idx="2"/>
          </p:cNvCxnSpPr>
          <p:nvPr/>
        </p:nvCxnSpPr>
        <p:spPr>
          <a:xfrm>
            <a:off x="3400975" y="2414250"/>
            <a:ext cx="67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6"/>
          <p:cNvSpPr/>
          <p:nvPr/>
        </p:nvSpPr>
        <p:spPr>
          <a:xfrm>
            <a:off x="271425" y="2861400"/>
            <a:ext cx="1218300" cy="97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</a:t>
            </a:r>
            <a:br>
              <a:rPr lang="en"/>
            </a:br>
            <a:r>
              <a:rPr lang="en"/>
              <a:t>Rollout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774350" y="1819575"/>
            <a:ext cx="12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pipeline-0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14" name="Google Shape;114;p16"/>
          <p:cNvCxnSpPr>
            <a:stCxn id="115" idx="6"/>
            <a:endCxn id="116" idx="2"/>
          </p:cNvCxnSpPr>
          <p:nvPr/>
        </p:nvCxnSpPr>
        <p:spPr>
          <a:xfrm flipH="1" rot="10800000">
            <a:off x="5015800" y="3782000"/>
            <a:ext cx="846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6"/>
          <p:cNvSpPr/>
          <p:nvPr/>
        </p:nvSpPr>
        <p:spPr>
          <a:xfrm>
            <a:off x="4076500" y="3338750"/>
            <a:ext cx="93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862500" y="3351050"/>
            <a:ext cx="836100" cy="861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666666"/>
                </a:solidFill>
              </a:rPr>
            </a:br>
            <a:endParaRPr>
              <a:solidFill>
                <a:srgbClr val="666666"/>
              </a:solidFill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2401675" y="3338750"/>
            <a:ext cx="999300" cy="894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</a:endParaRPr>
          </a:p>
        </p:txBody>
      </p:sp>
      <p:cxnSp>
        <p:nvCxnSpPr>
          <p:cNvPr id="118" name="Google Shape;118;p16"/>
          <p:cNvCxnSpPr>
            <a:stCxn id="117" idx="6"/>
            <a:endCxn id="115" idx="2"/>
          </p:cNvCxnSpPr>
          <p:nvPr/>
        </p:nvCxnSpPr>
        <p:spPr>
          <a:xfrm>
            <a:off x="3400975" y="3785900"/>
            <a:ext cx="67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6"/>
          <p:cNvSpPr txBox="1"/>
          <p:nvPr/>
        </p:nvSpPr>
        <p:spPr>
          <a:xfrm>
            <a:off x="1774350" y="3191225"/>
            <a:ext cx="12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pipeline-1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20" name="Google Shape;120;p16"/>
          <p:cNvCxnSpPr>
            <a:stCxn id="112" idx="7"/>
            <a:endCxn id="110" idx="2"/>
          </p:cNvCxnSpPr>
          <p:nvPr/>
        </p:nvCxnSpPr>
        <p:spPr>
          <a:xfrm flipH="1" rot="10800000">
            <a:off x="1311309" y="2414202"/>
            <a:ext cx="1090500" cy="5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6"/>
          <p:cNvCxnSpPr>
            <a:stCxn id="112" idx="5"/>
            <a:endCxn id="117" idx="3"/>
          </p:cNvCxnSpPr>
          <p:nvPr/>
        </p:nvCxnSpPr>
        <p:spPr>
          <a:xfrm>
            <a:off x="1311309" y="3690798"/>
            <a:ext cx="1236600" cy="4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6"/>
          <p:cNvSpPr txBox="1"/>
          <p:nvPr/>
        </p:nvSpPr>
        <p:spPr>
          <a:xfrm>
            <a:off x="2547900" y="1947388"/>
            <a:ext cx="42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C4125"/>
                </a:solidFill>
              </a:rPr>
              <a:t>DRAIN</a:t>
            </a:r>
            <a:endParaRPr b="1" sz="2400">
              <a:solidFill>
                <a:srgbClr val="CC4125"/>
              </a:solidFill>
            </a:endParaRPr>
          </a:p>
        </p:txBody>
      </p:sp>
      <p:cxnSp>
        <p:nvCxnSpPr>
          <p:cNvPr id="123" name="Google Shape;123;p16"/>
          <p:cNvCxnSpPr/>
          <p:nvPr/>
        </p:nvCxnSpPr>
        <p:spPr>
          <a:xfrm rot="10800000">
            <a:off x="2883275" y="2498175"/>
            <a:ext cx="21900" cy="11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6"/>
          <p:cNvSpPr txBox="1"/>
          <p:nvPr/>
        </p:nvSpPr>
        <p:spPr>
          <a:xfrm>
            <a:off x="2474950" y="2928500"/>
            <a:ext cx="99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8761D"/>
                </a:solidFill>
              </a:rPr>
              <a:t>REPLACE</a:t>
            </a:r>
            <a:endParaRPr b="1" sz="1000">
              <a:solidFill>
                <a:srgbClr val="38761D"/>
              </a:solidFill>
            </a:endParaRPr>
          </a:p>
        </p:txBody>
      </p:sp>
      <p:cxnSp>
        <p:nvCxnSpPr>
          <p:cNvPr id="125" name="Google Shape;125;p16"/>
          <p:cNvCxnSpPr/>
          <p:nvPr/>
        </p:nvCxnSpPr>
        <p:spPr>
          <a:xfrm rot="10800000">
            <a:off x="4577050" y="2510875"/>
            <a:ext cx="21900" cy="11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6"/>
          <p:cNvSpPr txBox="1"/>
          <p:nvPr/>
        </p:nvSpPr>
        <p:spPr>
          <a:xfrm>
            <a:off x="4168725" y="2941200"/>
            <a:ext cx="99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8761D"/>
                </a:solidFill>
              </a:rPr>
              <a:t>REPLACE</a:t>
            </a:r>
            <a:endParaRPr b="1" sz="1000">
              <a:solidFill>
                <a:srgbClr val="38761D"/>
              </a:solidFill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10800000">
            <a:off x="6270825" y="2498175"/>
            <a:ext cx="21900" cy="11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6"/>
          <p:cNvSpPr txBox="1"/>
          <p:nvPr/>
        </p:nvSpPr>
        <p:spPr>
          <a:xfrm>
            <a:off x="5862500" y="2928500"/>
            <a:ext cx="99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8761D"/>
                </a:solidFill>
              </a:rPr>
              <a:t>REPLACE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Procedure</a:t>
            </a:r>
            <a:endParaRPr/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Pipelines that were assessed as “Failed”: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Wait until there’s a new “promoted” Pipeline and Force Drain with that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 pods to 0 while waiting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other “recyclable” Pipelines: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try to drain with original spec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that doesn’t work, Force Drain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332700" y="25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Keep Pod Count from Getting too high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311700" y="1152475"/>
            <a:ext cx="8562600" cy="3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“RecycleFactor”:</a:t>
            </a:r>
            <a:endParaRPr sz="20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Take the number of Pods that were running for each Vertex when it was healthy and use a fraction of that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 turn, allow the </a:t>
            </a:r>
            <a:r>
              <a:rPr i="1" lang="en" sz="1600"/>
              <a:t>pauseGracePeriodSeconds</a:t>
            </a:r>
            <a:r>
              <a:rPr lang="en" sz="1600"/>
              <a:t> to increase by the inverse amount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This is set to default </a:t>
            </a:r>
            <a:r>
              <a:rPr b="1" lang="en" sz="1600"/>
              <a:t>⅓ </a:t>
            </a:r>
            <a:r>
              <a:rPr lang="en" sz="1600"/>
              <a:t>but can be overridden in PipelineRollout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